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30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8105-A497-E300-6B3B-B4E864FFD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90D7D-C888-BDD9-68B6-5451083CE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443F6-2260-C4AD-4AAA-F9ACD0566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778B3-AB3D-1F29-B15E-2E6018789E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886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64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Демо апликација за скицирање на фотографии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457200" cy="22860"/>
          </a:xfrm>
          <a:prstGeom prst="rect">
            <a:avLst/>
          </a:prstGeom>
          <a:solidFill>
            <a:srgbClr val="C97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Драгана Усовиќ</a:t>
            </a: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221043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ментор: проф. д-р Ивица Димитровски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6268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Дигитално процесирање на слика · ФИНКИ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ВОВЕД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9511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Што е скицирање на фотографии?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Дефиниција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Трансформација на фотографија во цртеж што имитира работа со молив или пенкало на хартија. Се добива со комбинирање на класични оператори на дигитално процесирање на слика, без машинско учење.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Зошто е значајно за ДПС?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89466" y="189738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Демонстрира како основните оператори се комбинираат во еден </a:t>
            </a: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сложен</a:t>
            </a: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Користи</a:t>
            </a: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градиенти</a:t>
            </a: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конволуција</a:t>
            </a: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мешање</a:t>
            </a: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канали</a:t>
            </a: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квантизација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Идеална</a:t>
            </a: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тема за визуелизација на меѓучекори (pipeline view)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АПЛИКАЦИЈА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Демо апликација TraceLight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Веб-апликација која ги обединува трите имплементирани алгоритми во </a:t>
            </a:r>
            <a:r>
              <a:rPr lang="en-US" sz="13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еден</a:t>
            </a: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mk-MK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интерфејс. </a:t>
            </a:r>
            <a:br>
              <a:rPr lang="mk-MK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Корисникот</a:t>
            </a: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mk-MK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прикачува</a:t>
            </a: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слика, избира ефект и параметри, и веднаш ги гледа резултатот и меѓучекорите.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834640"/>
            <a:ext cx="2560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Молив-скица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dodge техника — грејскејл, инверзија, Гаусов филтер, мешање.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560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Детекција на рабови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3794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класични алгоритми: Sobel, Laplacian, Canny</a:t>
            </a:r>
            <a:r>
              <a:rPr lang="mk-MK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2834640"/>
            <a:ext cx="2560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Дирекционо штрафирање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3794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Линии распоредени според </a:t>
            </a:r>
            <a:r>
              <a:rPr lang="en-US" sz="11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градиентната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насока</a:t>
            </a:r>
            <a:r>
              <a:rPr lang="mk-MK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(со 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</a:t>
            </a:r>
            <a:r>
              <a:rPr lang="mk-MK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ТЕХНОЛОГИИ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Стек на технологии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2075688"/>
            <a:ext cx="109728" cy="109728"/>
          </a:xfrm>
          <a:prstGeom prst="ellipse">
            <a:avLst/>
          </a:prstGeom>
          <a:solidFill>
            <a:srgbClr val="C97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965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Имплементациски јазик за сите алгоритми и UI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578608"/>
            <a:ext cx="109728" cy="109728"/>
          </a:xfrm>
          <a:prstGeom prst="ellipse">
            <a:avLst/>
          </a:prstGeom>
          <a:solidFill>
            <a:srgbClr val="C97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468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cv2.imdecode, cv2.cvtColor, cv2.GaussianBlur, cv2.Sobel, cv2.Canny ...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081528"/>
            <a:ext cx="109728" cy="109728"/>
          </a:xfrm>
          <a:prstGeom prst="ellipse">
            <a:avLst/>
          </a:prstGeom>
          <a:solidFill>
            <a:srgbClr val="C97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971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Векторизирана аритметика, маски, float32 операции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584448"/>
            <a:ext cx="109728" cy="109728"/>
          </a:xfrm>
          <a:prstGeom prst="ellipse">
            <a:avLst/>
          </a:prstGeom>
          <a:solidFill>
            <a:srgbClr val="C97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474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Веб-интерфејс: </a:t>
            </a:r>
            <a:r>
              <a:rPr lang="mk-MK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прикачување</a:t>
            </a: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слајдери, табови, </a:t>
            </a:r>
            <a:r>
              <a:rPr lang="en-US" sz="12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преземање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4087368"/>
            <a:ext cx="109728" cy="109728"/>
          </a:xfrm>
          <a:prstGeom prst="ellipse">
            <a:avLst/>
          </a:prstGeom>
          <a:solidFill>
            <a:srgbClr val="C97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Визуелизација на меѓучекори и хистограми на интензитет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ОСНОВИ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Дигитална слика како матрица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Слика = 3-димензионална матрица од пиксели:  H × W × C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висина, W = ширина, C = број канали (3 за RGB, 1 за грејскејл)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OpenCV користи BGR (не RGB)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Историск</a:t>
            </a:r>
            <a:r>
              <a:rPr lang="mk-MK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наследство од Windows BMP форматот. При прикажување во Streamlit (RGB), сликата мора да се конвертира со cv2.cvtColor(img, cv2.COLOR_BGR2RGB).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2788920"/>
            <a:ext cx="3657600" cy="160020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k-MK" sz="95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Вчитување</a:t>
            </a:r>
            <a:r>
              <a:rPr lang="en-US" sz="95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слика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83480" y="32004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file_bytes = np.frombuffer(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uploaded.read(), np.uint8)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cv2.imdecode(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file_bytes, cv2.IMREAD_COLOR)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ОСНОВИ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Конверзија во грејскејл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 (ITU-R BT.601)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7863840" cy="86868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= 0.299 · R  +  0.587 · G  +  0.114 · 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 err="1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Зошто</a:t>
            </a:r>
            <a:r>
              <a:rPr lang="en-US" sz="11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kern="0" spc="200" dirty="0" err="1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ови</a:t>
            </a:r>
            <a:r>
              <a:rPr lang="mk-MK" sz="11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 бројки</a:t>
            </a:r>
            <a:r>
              <a:rPr lang="en-US" sz="11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Соодветствуваат на човечката перцепција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Зелена компонента е најосетлива, сината најмалку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Едноставниот просек (R+G+B)/3 дава помрачна, помалку реална слика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повик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3749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= cv2.cvtColor(img,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cv2.COLOR_BGR2GRAY)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ОСНОВИ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Гаусов филтер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Линеарен филтер за смазнување. Централниот пиксел има најголема тежина, тежините опаѓаат со растојание според Гаусова распределба.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7863840" cy="86868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G(x, y)  =  (1 / 2πσ²) · exp( −(x² + y²) / 2σ² 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Големина на јадрото k × k (непарен број)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— стандардна девијација (контролира острина)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Поголем k → помеки и пошироки потези во резултатот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повик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cv2.GaussianBlur(img, (k, k), 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4389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0 за σ, OpenCV автоматски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пресметува: σ = 0.3·((k−1)/2 − 1) + 0.8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МОЛИВ-СКИЦА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Преглед на алгоритам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Dodge техника — истата што се користи во Photoshop / GIMP. Имитира темни молив-линии на бела хартија.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00100" y="2788920"/>
            <a:ext cx="1783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298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2980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Грејскејл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2980" y="37490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0.299R + ...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83180" y="34290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20340" y="2788920"/>
            <a:ext cx="1783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0322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03220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Инверзија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03220" y="37490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I_inv = 255 −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03420" y="34290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40580" y="2788920"/>
            <a:ext cx="1783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2346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23460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Гаусов филтер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3460" y="37490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blur(I_inv, k)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23660" y="34290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60820" y="2788920"/>
            <a:ext cx="1783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4370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43700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Dodge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43700" y="37490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G·255 / (255 − B)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Излез: едноканална uint8 слика (бела хартија со темни молив-линии)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МОЛИВ-СКИЦА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Чекори 1 и 2 — грејскејл и инверзија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ЧЕКОР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Грејскејл конверзија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3840480" cy="64008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= 0.299·R + 0.587·G + 0.114·B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Каналите се сведуваат на еден тонален канал. Сите следни операции работат на оваа едноканална слика.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ЧЕКОР 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Инверзија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2697480"/>
            <a:ext cx="3657600" cy="64008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697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I_inv(x, y) = 255 − I(x, y)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Фотографски негатив. Темните области стануваат светли. Овој чекор е клучен — без него color dodge би осветлил место да затемни.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МОЛИВ-СКИЦА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Чекори 3 и 4 — Гаусов филтер и color dodge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ЧЕКОР 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Гаусов филтер на инвертираната слика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3840480" cy="64008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GaussianBlur(I_inv, (k, k), 0)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Темните инверзни области </a:t>
            </a:r>
            <a:r>
              <a:rPr lang="en-US" sz="12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</a:t>
            </a: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разлеваат</a:t>
            </a:r>
            <a:r>
              <a:rPr lang="mk-MK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ЧЕКОР 04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Dodge мешање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2697480"/>
            <a:ext cx="3657600" cy="64008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697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= min( G · 255 / (255 − B + ε),  255 )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≈ 255  →  резултат се режи на бела (хартија)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мала  →  оригиналната </a:t>
            </a:r>
            <a:r>
              <a:rPr lang="en-US" sz="11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грејскејл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вреднос</a:t>
            </a:r>
            <a:r>
              <a:rPr lang="mk-MK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1e−6  —  спречува делење со нула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МОЛИВ-СКИЦА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Резултат и опционо мешање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Карактеристики на излезот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Едноканална uint8 слика — бела хартија со темни молив-линии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Бимодална дистрибуција на интензитет: </a:t>
            </a:r>
            <a:r>
              <a:rPr lang="en-US" sz="12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големи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mk-MK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скокови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кај 0 (линии) и 255 (хартија)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Темните потези соодветствуваат на рабови во оригиналот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Опционо мешање со интензитет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 =  α · S  +  (1 − α) · gray         каде α ∈ [0.1, 1.0]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РАБОВИ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Детекција </a:t>
            </a:r>
            <a:r>
              <a:rPr lang="en-US" sz="3000" dirty="0" err="1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</a:t>
            </a: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dirty="0" err="1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рабови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Што е раб?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Локација каде интензитетот нагло </a:t>
            </a: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</a:t>
            </a: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менува</a:t>
            </a:r>
            <a:r>
              <a:rPr lang="mk-MK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односно </a:t>
            </a: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границата</a:t>
            </a: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помеѓу две области со различна осветленост. Рабовите се основа на секој цртеж со линии.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Прв извод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∇I = (∂I/∂x, ∂I/∂y)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Бараме голема магнитуда ‖∇I‖.  Оператори: Sobel, Prewitt, Roberts.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 извод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∇²I = ∂²I/∂x² + ∂²I/∂y²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657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Бараме нула-пресеци или голема апсолутна вредност. Оператори: Laplacian, LoG.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РАБОВИ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Sobel оператор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Прв-изводен оператор. Со две 3×3 јадра ги пресметува хоризонталниот и вертикалниот градиент.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 (хоризонтално)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88920"/>
          <a:ext cx="1645920" cy="10972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69748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 (вертикално)</a:t>
            </a:r>
            <a:endParaRPr lang="en-US" sz="10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97480" y="2788920"/>
          <a:ext cx="1645920" cy="10972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Магнитуда на градиент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846320" y="2788920"/>
            <a:ext cx="3657600" cy="109728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846320" y="2788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 = Sx ∗ 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 = Sy ∗ 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‖∇I‖ = √(Gx² + Gy²)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cv2.Sobel(img, cv2.CV_64F, dx, dy, ksize)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РАБОВИ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Laplacian оператор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Втор-изводен изотропен оператор. Не зависи од насока — детектира рабови во сите ориентации со едно јадро.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Дискретно јадро 3×3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1645920" cy="10972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92608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26080" y="2926080"/>
            <a:ext cx="5577840" cy="109728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926080" y="2926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∇²I  =  ∂²I/∂x²  +  ∂²I/∂y²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4251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Изотропен — еднаков одговор за рабови во која било насока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Многу чувствителен на шум — </a:t>
            </a:r>
            <a:r>
              <a:rPr lang="en-US" sz="11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задолжително</a:t>
            </a: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mk-MK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замазнување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cv2.Laplacian(img, cv2.CV_64F, ksize)  +  cv2.convertScaleAbs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РАБОВИ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Canny алгоритам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Повеќестепенски</a:t>
            </a: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алгоритам</a:t>
            </a:r>
            <a:r>
              <a:rPr lang="mk-MK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еден</a:t>
            </a: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од најкористените во практика. John Canny, 1986.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4597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Гаусово смазнување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8072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8437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градиенти — магнитуда и насока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1912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227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Non-maximum suppression — </a:t>
            </a:r>
            <a:r>
              <a:rPr lang="en-US" sz="13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</a:t>
            </a:r>
            <a:r>
              <a:rPr lang="mk-MK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3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нчување</a:t>
            </a: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рабовите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5753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Двојно прагирање (low / high)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9593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995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</a:t>
            </a:r>
            <a:r>
              <a:rPr lang="mk-MK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се чуваат </a:t>
            </a:r>
            <a:r>
              <a:rPr lang="en-US" sz="13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слаби</a:t>
            </a: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рабови поврзани </a:t>
            </a:r>
            <a:r>
              <a:rPr lang="en-US" sz="13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</a:t>
            </a: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силни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Препорачано:  low ≈ high / 2     ·     cv2.Canny(img, low, high)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ШТРАФИРАЊЕ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 err="1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Дирекционо</a:t>
            </a: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dirty="0" err="1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штрафирање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Уметничкото правило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Уметникот ги црта </a:t>
            </a:r>
            <a:r>
              <a:rPr lang="en-US" sz="13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линиите</a:t>
            </a: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mk-MK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вдолж</a:t>
            </a: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работ, не препреку него. Sobel ни ја дава не само магнитудата на градиентот, туку и </a:t>
            </a:r>
            <a:r>
              <a:rPr lang="en-US" sz="13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неговата</a:t>
            </a: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насок</a:t>
            </a:r>
            <a:r>
              <a:rPr lang="mk-MK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Градиентна насока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3840480" cy="82296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 = atan2(Gy, Gx)  mod  180°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Насока на работ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3566160"/>
            <a:ext cx="3657600" cy="82296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3566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φ = (θ + 90°)  mod  180°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180° — затоа што линија е двонасочна (θ и θ + 180° се иста ориентација)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ШТРАФИРАЊЕ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Алгоритам за дирекционо штрафирање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9110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Грејскејл + Гаусово смазнување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4597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градиенти Gx, 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0083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Поларна форма:  ‖∇I‖ и 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5570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Насока на работ:  φ = (θ + 90°) mod 180°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240" y="19110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Квантизација на φ во N корпи (4 или 8)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49240" y="24597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Создавање на N паралелни линиски текстури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30083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mask:  ‖∇I‖_norm  &gt;  threshold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49240" y="35570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Композиција:  за секој edge-пиксел, избери текстура според корпата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Резултат: бела хартија со </a:t>
            </a:r>
            <a:r>
              <a:rPr lang="en-US" sz="11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паралелни</a:t>
            </a: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mk-MK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молив </a:t>
            </a:r>
            <a:r>
              <a:rPr lang="mk-MK" sz="11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штрафирања</a:t>
            </a: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ориентирани вдолж рабовите.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UI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Преглед на демо апликацијата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ЛЕВА ЛЕНТА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22585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Контроли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08960" y="20116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mk-MK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Прикачување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слика, избор на ефект, динамички параметри во зависност од избраниот алгоритам.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 — RESULT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32186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Резултат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29718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Оригинал и </a:t>
            </a:r>
            <a:r>
              <a:rPr lang="en-US" sz="12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излез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страна</a:t>
            </a:r>
            <a:r>
              <a:rPr lang="mk-MK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mk-MK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страна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со копче за преземање на резултатот како PNG.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 — PIPELINE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4178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Меѓучекори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08960" y="39319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Сите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</a:t>
            </a:r>
            <a:r>
              <a:rPr lang="mk-MK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чекори се прикажани со matplotlib subplots, </a:t>
            </a:r>
            <a:r>
              <a:rPr lang="mk-MK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заедно со</a:t>
            </a: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хистограми на интензитет.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E3FF-BC54-8C7D-D4B7-C4FFE22F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C50342-222B-0D97-AF3C-A49DCA4BDCB5}"/>
              </a:ext>
            </a:extLst>
          </p:cNvPr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TraceLight</a:t>
            </a:r>
            <a:r>
              <a:rPr lang="en-US" sz="1100" b="1" dirty="0">
                <a:solidFill>
                  <a:srgbClr val="C9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3E3095-48DD-DB50-1783-75899732D6D5}"/>
              </a:ext>
            </a:extLst>
          </p:cNvPr>
          <p:cNvSpPr/>
          <p:nvPr/>
        </p:nvSpPr>
        <p:spPr>
          <a:xfrm>
            <a:off x="832104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A4FBEF-BC91-271E-239E-45448D1A3DFC}"/>
              </a:ext>
            </a:extLst>
          </p:cNvPr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UI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E9C45E-7B69-F382-99A1-3F8AD8A7A6D1}"/>
              </a:ext>
            </a:extLst>
          </p:cNvPr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Преглед на демо апликацијата</a:t>
            </a:r>
            <a:endParaRPr lang="en-US" sz="3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7BC1D8-71D0-0FFF-F072-D81711AC2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15509"/>
            <a:ext cx="4553049" cy="21126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D884D0-0CE6-89B1-B89D-A3DD6D6ED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240" y="2115509"/>
            <a:ext cx="3508899" cy="209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87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ЗАКЛУЧОК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mk-MK" sz="3000" dirty="0">
                <a:solidFill>
                  <a:srgbClr val="F5F5F5"/>
                </a:solidFill>
                <a:latin typeface="Georgia" pitchFamily="34" charset="0"/>
              </a:rPr>
              <a:t>Скицирање слики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Молив-скица, детекција на рабови и </a:t>
            </a:r>
            <a:r>
              <a:rPr lang="en-US" sz="1300" dirty="0" err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дирекционо</a:t>
            </a: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штрафирање</a:t>
            </a:r>
            <a:r>
              <a:rPr lang="mk-MK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сите</a:t>
            </a: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имплементирани врз основа на истиот сет на класични оператори: грејскејл, Гаусов филтер, Sobel и мешање. Pipeline-визуелизацијата ги прикажува меѓучекорите за подобро разбирање на секој алгоритам.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457200" cy="22860"/>
          </a:xfrm>
          <a:prstGeom prst="rect">
            <a:avLst/>
          </a:prstGeom>
          <a:solidFill>
            <a:srgbClr val="C97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РЕФЕРЕНЦИ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Gonzalez R. C., Woods R. E.  ·  Digital Image Processing (4th ed.), Pearson, 2018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J.  ·  A Computational Approach to Edge Detection. IEEE PAMI, 1986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I.  ·  An Isotropic 3 × 3 Image Gradient Operator. SAIL, 1968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documentation  ·  docs.opencv.org</a:t>
            </a:r>
            <a:endParaRPr lang="en-US" sz="11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D64BD4-FE4A-6901-27F5-7A8BD7AF2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620" y="2620192"/>
            <a:ext cx="1962184" cy="1937657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C629D5B6-64A1-9F9C-FBB2-B74501FE56C5}"/>
              </a:ext>
            </a:extLst>
          </p:cNvPr>
          <p:cNvSpPr/>
          <p:nvPr/>
        </p:nvSpPr>
        <p:spPr>
          <a:xfrm>
            <a:off x="6467130" y="4584459"/>
            <a:ext cx="2676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1671</Words>
  <Application>Microsoft Office PowerPoint</Application>
  <PresentationFormat>On-screen Show (16:9)</PresentationFormat>
  <Paragraphs>296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TraceLight — Дигитално процесирање на слика</dc:title>
  <dc:subject>PptxGenJS Presentation</dc:subject>
  <dc:creator>Драгана Усовиќ</dc:creator>
  <cp:lastModifiedBy>Усовиќ Драгана</cp:lastModifiedBy>
  <cp:revision>14</cp:revision>
  <dcterms:created xsi:type="dcterms:W3CDTF">2026-05-24T19:19:02Z</dcterms:created>
  <dcterms:modified xsi:type="dcterms:W3CDTF">2026-05-31T14:08:14Z</dcterms:modified>
</cp:coreProperties>
</file>